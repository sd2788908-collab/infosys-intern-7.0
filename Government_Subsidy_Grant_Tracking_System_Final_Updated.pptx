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A1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18872" cy="3474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Government Subsidy &amp; Grant</a:t>
            </a:r>
            <a:br/>
            <a:r>
              <a:t>Disbursement Tracking System</a:t>
            </a:r>
          </a:p>
          <a:p>
            <a:pPr>
              <a:spcBef>
                <a:spcPts val="1400"/>
              </a:spcBef>
              <a:defRPr sz="1800">
                <a:solidFill>
                  <a:srgbClr val="CDDCFA"/>
                </a:solidFill>
              </a:defRPr>
            </a:pPr>
            <a:r>
              <a:t>Transparent • Role-Based • End-to-End Digital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77639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The Problem We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82"/>
                </a:solidFill>
              </a:defRPr>
            </a:pPr>
            <a:r>
              <a:t>Why subsidy administration needs an integrated digital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Fragmented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306323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Applications, verification, approvals and fund release can exist as separate activities, making tracking difficult.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Limited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39112"/>
            <a:ext cx="306323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Beneficiaries may not know the exact stage of an application or what action is pending.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819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Verification &amp;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39112"/>
            <a:ext cx="306323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Eligibility, physical inspection, milestone checks and utilization proofs need traceable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2337"/>
                </a:solidFill>
              </a:defRPr>
            </a:pPr>
            <a:r>
              <a:t>Our system connects the complete subsidy lifecycle in one role-based portal.</a:t>
            </a:r>
          </a:p>
          <a:p>
            <a:pPr>
              <a:spcAft>
                <a:spcPts val="1100"/>
              </a:spcAft>
              <a:defRPr sz="1800">
                <a:solidFill>
                  <a:srgbClr val="192337"/>
                </a:solidFill>
              </a:defRPr>
            </a:pPr>
            <a:r>
              <a:t>Every stage is visible, auditable and linked to the responsible user role.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82"/>
                </a:solidFill>
              </a:defRPr>
            </a:pPr>
            <a:r>
              <a:t>A unified workflow from citizen registration to final utilization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078992" cy="914400"/>
          </a:xfrm>
          <a:prstGeom prst="round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2267712"/>
            <a:ext cx="9692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Register /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057400"/>
            <a:ext cx="1078992" cy="914400"/>
          </a:xfrm>
          <a:prstGeom prst="round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0784" y="2267712"/>
            <a:ext cx="9692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Profile &amp; KYC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057400"/>
            <a:ext cx="1078992" cy="914400"/>
          </a:xfrm>
          <a:prstGeom prst="round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3784" y="2267712"/>
            <a:ext cx="9692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Scheme Discovery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057400"/>
            <a:ext cx="1078992" cy="914400"/>
          </a:xfrm>
          <a:prstGeom prst="round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6783" y="2267712"/>
            <a:ext cx="9692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057400"/>
            <a:ext cx="1078992" cy="914400"/>
          </a:xfrm>
          <a:prstGeom prst="round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3" y="2267712"/>
            <a:ext cx="9692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Eligibility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57400"/>
            <a:ext cx="1078992" cy="914400"/>
          </a:xfrm>
          <a:prstGeom prst="round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2267712"/>
            <a:ext cx="9692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Field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057400"/>
            <a:ext cx="1078992" cy="914400"/>
          </a:xfrm>
          <a:prstGeom prst="round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4" y="2267712"/>
            <a:ext cx="9692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District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057400"/>
            <a:ext cx="1078992" cy="914400"/>
          </a:xfrm>
          <a:prstGeom prst="round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58784" y="2267712"/>
            <a:ext cx="9692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 Approval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2057400"/>
            <a:ext cx="1078992" cy="914400"/>
          </a:xfrm>
          <a:prstGeom prst="round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01784" y="2267712"/>
            <a:ext cx="9692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Disbursement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89920" y="2057400"/>
            <a:ext cx="1078992" cy="914400"/>
          </a:xfrm>
          <a:prstGeom prst="round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44784" y="2267712"/>
            <a:ext cx="9692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Utilization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977639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2337"/>
                </a:solidFill>
              </a:defRPr>
            </a:pPr>
            <a:r>
              <a:t>Role-based access keeps beneficiary, field, district, finance and admin responsibilities clearly separated.</a:t>
            </a:r>
          </a:p>
          <a:p>
            <a:pPr>
              <a:spcAft>
                <a:spcPts val="1100"/>
              </a:spcAft>
              <a:defRPr sz="1800">
                <a:solidFill>
                  <a:srgbClr val="192337"/>
                </a:solidFill>
              </a:defRPr>
            </a:pPr>
            <a:r>
              <a:t>Status tracking and notifications make the workflow easier to understand and demonstrate.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004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278892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React + Vite</a:t>
            </a:r>
            <a:br/>
            <a:br/>
            <a:r>
              <a:t>Responsive dashboards</a:t>
            </a:r>
            <a:br/>
            <a:r>
              <a:t>Role-based navigation</a:t>
            </a:r>
            <a:br/>
            <a:r>
              <a:t>Application tracking</a:t>
            </a:r>
            <a:br/>
            <a:r>
              <a:t>Forms, queues and 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004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3152" cy="3566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5819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39112"/>
            <a:ext cx="278892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Spring Boot</a:t>
            </a:r>
            <a:br/>
            <a:br/>
            <a:r>
              <a:t>REST APIs</a:t>
            </a:r>
            <a:br/>
            <a:r>
              <a:t>Business workflow services</a:t>
            </a:r>
            <a:br/>
            <a:r>
              <a:t>Eligibility evaluation</a:t>
            </a:r>
            <a:br/>
            <a:r>
              <a:t>Security &amp; authorization</a:t>
            </a:r>
            <a:br/>
            <a:r>
              <a:t>Audit-oriented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004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73152" cy="3566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5819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Data &amp;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39112"/>
            <a:ext cx="278892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Relational persistence</a:t>
            </a:r>
            <a:br/>
            <a:br/>
            <a:r>
              <a:t>Beneficiary &amp; application data</a:t>
            </a:r>
            <a:br/>
            <a:r>
              <a:t>Scheme rules</a:t>
            </a:r>
            <a:br/>
            <a:r>
              <a:t>Verification records</a:t>
            </a:r>
            <a:br/>
            <a:r>
              <a:t>Disbursement milestones</a:t>
            </a:r>
            <a:br/>
            <a:r>
              <a:t>Utilization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Role-Based Governance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73152" cy="749808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99032"/>
            <a:ext cx="10104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Beneficiary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56232"/>
            <a:ext cx="1010412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Profile, schemes, applications, tracking &amp;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73152" cy="7498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104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Field Officer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16352"/>
            <a:ext cx="1010412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Eligibility, ground verification, milestones &amp; utilization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5468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154680"/>
            <a:ext cx="73152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19272"/>
            <a:ext cx="10104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District Officer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76472"/>
            <a:ext cx="1010412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District-level scrutiny and approval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1480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114800"/>
            <a:ext cx="73152" cy="749808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79392"/>
            <a:ext cx="10104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Finance Officer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36592"/>
            <a:ext cx="1010412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Sanction, disbursement planning and fund release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7492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5074920"/>
            <a:ext cx="73152" cy="749808"/>
          </a:xfrm>
          <a:prstGeom prst="rect">
            <a:avLst/>
          </a:prstGeom>
          <a:solidFill>
            <a:srgbClr val="1A9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239512"/>
            <a:ext cx="10104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696712"/>
            <a:ext cx="1010412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System-wide administration and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Beneficiary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82"/>
                </a:solidFill>
              </a:defRPr>
            </a:pPr>
            <a:r>
              <a:t>Citizen-facing journey from onboarding to application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325880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1. Master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Identity, category, income, land holding, jurisdiction and DBT bank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04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2. Available Schemes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47672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Browse active subsidy schemes, grant range, budget and eligibility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325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9047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3. Apply &amp;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47672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Submit a grant request and monitor its status across the complete lifecycle.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7180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971800"/>
            <a:ext cx="73152" cy="132588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1363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4. Smart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93592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Helps with scheme discovery, eligibility questions, status and document guidance.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97180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971800"/>
            <a:ext cx="73152" cy="1325880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1363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5. My 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93592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Shows application reference, requested amount, score, risk and current stage.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97180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971800"/>
            <a:ext cx="73152" cy="1325880"/>
          </a:xfrm>
          <a:prstGeom prst="rect">
            <a:avLst/>
          </a:prstGeom>
          <a:solidFill>
            <a:srgbClr val="1A9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1363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6. Notification 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593592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Provides application, verification, DBT and system alerts in one place.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Automated Eligibility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82"/>
                </a:solidFill>
              </a:defRPr>
            </a:pPr>
            <a:r>
              <a:t>Rule-driven screening before physical field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2337"/>
                </a:solidFill>
              </a:defRPr>
            </a:pPr>
            <a:r>
              <a:t>Submitted applications enter the Eligibility Queue.</a:t>
            </a:r>
          </a:p>
          <a:p>
            <a:pPr>
              <a:spcAft>
                <a:spcPts val="1100"/>
              </a:spcAft>
              <a:defRPr sz="1800">
                <a:solidFill>
                  <a:srgbClr val="192337"/>
                </a:solidFill>
              </a:defRPr>
            </a:pPr>
            <a:r>
              <a:t>Scheme-specific rules evaluate registered beneficiary attributes such as income, land holding, age or category.</a:t>
            </a:r>
          </a:p>
          <a:p>
            <a:pPr>
              <a:spcAft>
                <a:spcPts val="1100"/>
              </a:spcAft>
              <a:defRPr sz="1800">
                <a:solidFill>
                  <a:srgbClr val="192337"/>
                </a:solidFill>
              </a:defRPr>
            </a:pPr>
            <a:r>
              <a:t>The system produces an eligibility score and risk classification.</a:t>
            </a:r>
          </a:p>
          <a:p>
            <a:pPr>
              <a:spcAft>
                <a:spcPts val="1100"/>
              </a:spcAft>
              <a:defRPr sz="1800">
                <a:solidFill>
                  <a:srgbClr val="192337"/>
                </a:solidFill>
              </a:defRPr>
            </a:pPr>
            <a:r>
              <a:t>Field Officers can evaluate one application or use “Evaluate All Pending” for bulk processing.</a:t>
            </a:r>
          </a:p>
          <a:p>
            <a:pPr>
              <a:spcAft>
                <a:spcPts val="1100"/>
              </a:spcAft>
              <a:defRPr sz="1800">
                <a:solidFill>
                  <a:srgbClr val="192337"/>
                </a:solidFill>
              </a:defRPr>
            </a:pPr>
            <a:r>
              <a:t>Eligible applications move forward to physical verification; unsuccessful cases can be handled according to workflow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50876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508760"/>
            <a:ext cx="73152" cy="3383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73351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130552"/>
            <a:ext cx="3154679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Reduces repetitive manual screening</a:t>
            </a:r>
            <a:br/>
            <a:br/>
            <a:r>
              <a:t>Applies the same rule logic consistently</a:t>
            </a:r>
            <a:br/>
            <a:br/>
            <a:r>
              <a:t>Creates a clear eligibility trail before ground inspection</a:t>
            </a:r>
            <a:br/>
            <a:br/>
            <a:r>
              <a:t>Supports faster handling of pending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Field Officer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82"/>
                </a:solidFill>
              </a:defRPr>
            </a:pPr>
            <a:r>
              <a:t>Operational verification and compliance workbench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143000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Officer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5623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Snapshot of eligibility, field, district, finance and disbursement stages.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Eligibility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Evaluate submitted applications individually or in bulk.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73152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990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Field Verification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5623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Review ground details and record the inspection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7432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743200"/>
            <a:ext cx="73152" cy="114300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077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Milestone Inspections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6499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Track scheduled project milestones and compliance conditions.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7432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743200"/>
            <a:ext cx="73152" cy="1143000"/>
          </a:xfrm>
          <a:prstGeom prst="rect">
            <a:avLst/>
          </a:prstGeom>
          <a:solidFill>
            <a:srgbClr val="1A9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9077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Utilization Proofs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6499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Verify invoices, utilized amount and evidence after fund release.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7432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2743200"/>
            <a:ext cx="73152" cy="1143000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9077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Notification 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36499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Highlights pending inspections and other workflow updates.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192337"/>
                </a:solidFill>
              </a:defRPr>
            </a:pPr>
            <a:r>
              <a:t>Field verification decisions can forward the application, request re-verification, or reject it based on inspection findings.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End-to-End Application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1143000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Beneficiary prepares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SUBMITTED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5623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Application enters eligibility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3444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34440"/>
            <a:ext cx="73152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399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ELIGIBILITY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5623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Rule-based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73152" cy="1143000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535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FIELD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107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Physical verification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7889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788920"/>
            <a:ext cx="73152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9535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DISTRICT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4107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Administrative scrutiny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78892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2788920"/>
            <a:ext cx="73152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9535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107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Grant sanction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434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343400"/>
            <a:ext cx="73152" cy="1143000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5079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DISBURSEMENT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965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Tranche / DBT planning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43434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4343400"/>
            <a:ext cx="73152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45079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UTILIZATION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965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Evidence verification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34340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4343400"/>
            <a:ext cx="73152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45079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COMPLETED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9651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Lifecycle closure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Example 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82"/>
                </a:solidFill>
              </a:defRPr>
            </a:pPr>
            <a:r>
              <a:t>A simple story to explain the system naturally during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92337"/>
                </a:solidFill>
              </a:defRPr>
            </a:pPr>
            <a:r>
              <a:t>Example: A farmer creates an account and completes the beneficiary profile with identity, income, land and DBT details.</a:t>
            </a:r>
          </a:p>
          <a:p>
            <a:pPr>
              <a:spcAft>
                <a:spcPts val="1100"/>
              </a:spcAft>
              <a:defRPr sz="1900">
                <a:solidFill>
                  <a:srgbClr val="192337"/>
                </a:solidFill>
              </a:defRPr>
            </a:pPr>
            <a:r>
              <a:t>The farmer selects the Pradhan Mantri Krishi Vikas Subsidy and submits a grant request.</a:t>
            </a:r>
          </a:p>
          <a:p>
            <a:pPr>
              <a:spcAft>
                <a:spcPts val="1100"/>
              </a:spcAft>
              <a:defRPr sz="1900">
                <a:solidFill>
                  <a:srgbClr val="192337"/>
                </a:solidFill>
              </a:defRPr>
            </a:pPr>
            <a:r>
              <a:t>The application enters the Eligibility Queue, where scheme rules calculate the score.</a:t>
            </a:r>
          </a:p>
          <a:p>
            <a:pPr>
              <a:spcAft>
                <a:spcPts val="1100"/>
              </a:spcAft>
              <a:defRPr sz="1900">
                <a:solidFill>
                  <a:srgbClr val="192337"/>
                </a:solidFill>
              </a:defRPr>
            </a:pPr>
            <a:r>
              <a:t>After eligibility clearance, the Field Officer performs ground verification and recommends the application for District Review.</a:t>
            </a:r>
          </a:p>
          <a:p>
            <a:pPr>
              <a:spcAft>
                <a:spcPts val="1100"/>
              </a:spcAft>
              <a:defRPr sz="1900">
                <a:solidFill>
                  <a:srgbClr val="192337"/>
                </a:solidFill>
              </a:defRPr>
            </a:pPr>
            <a:r>
              <a:t>After district and finance approvals, the system can manage disbursement milestones and later verify utilization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Security, Control &amp; Transparency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3337560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Role-Based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2834639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Users access only the functions permitted for their role. Officer-only eligibility actions are protected from beneficiary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3152" cy="3337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58191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Traceable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39112"/>
            <a:ext cx="2834639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Each application carries a reference, status, score and progression through defined approval stages.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73152" cy="3337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58191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Operational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39112"/>
            <a:ext cx="2834639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Dashboards, queues and notifications help users understand pending work and application movement.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Key Benefits &amp; Project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92337"/>
                </a:solidFill>
              </a:defRPr>
            </a:pPr>
            <a:r>
              <a:t>Single digital platform for subsidy application, verification, approval and fund-use monitoring.</a:t>
            </a:r>
          </a:p>
          <a:p>
            <a:pPr>
              <a:spcAft>
                <a:spcPts val="1100"/>
              </a:spcAft>
              <a:defRPr sz="2000">
                <a:solidFill>
                  <a:srgbClr val="192337"/>
                </a:solidFill>
              </a:defRPr>
            </a:pPr>
            <a:r>
              <a:t>Improved transparency for beneficiaries through real-time lifecycle tracking.</a:t>
            </a:r>
          </a:p>
          <a:p>
            <a:pPr>
              <a:spcAft>
                <a:spcPts val="1100"/>
              </a:spcAft>
              <a:defRPr sz="2000">
                <a:solidFill>
                  <a:srgbClr val="192337"/>
                </a:solidFill>
              </a:defRPr>
            </a:pPr>
            <a:r>
              <a:t>Consistent eligibility screening using scheme-specific rules.</a:t>
            </a:r>
          </a:p>
          <a:p>
            <a:pPr>
              <a:spcAft>
                <a:spcPts val="1100"/>
              </a:spcAft>
              <a:defRPr sz="2000">
                <a:solidFill>
                  <a:srgbClr val="192337"/>
                </a:solidFill>
              </a:defRPr>
            </a:pPr>
            <a:r>
              <a:t>Clear separation of responsibilities through role-based dashboards.</a:t>
            </a:r>
          </a:p>
          <a:p>
            <a:pPr>
              <a:spcAft>
                <a:spcPts val="1100"/>
              </a:spcAft>
              <a:defRPr sz="2000">
                <a:solidFill>
                  <a:srgbClr val="192337"/>
                </a:solidFill>
              </a:defRPr>
            </a:pPr>
            <a:r>
              <a:t>Better accountability through verification queues, milestone checks and utilization evidence.</a:t>
            </a:r>
          </a:p>
          <a:p>
            <a:pPr>
              <a:spcAft>
                <a:spcPts val="1100"/>
              </a:spcAft>
              <a:defRPr sz="2000">
                <a:solidFill>
                  <a:srgbClr val="192337"/>
                </a:solidFill>
              </a:defRPr>
            </a:pPr>
            <a:r>
              <a:t>Scalable foundation for additional government schemes, departments and regions.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1F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Advanced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Department-wise trends, approval turnaround time and fund utilization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3152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5819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Fraud &amp; Risk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3911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Anomaly detection and stronger risk scoring using historical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73152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58191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External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3911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Government identity, treasury/DBT and document verification integrations.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333756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3337560"/>
            <a:ext cx="73152" cy="1417320"/>
          </a:xfrm>
          <a:prstGeom prst="rect">
            <a:avLst/>
          </a:prstGeom>
          <a:solidFill>
            <a:srgbClr val="1A9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50215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Mobile Accessibility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95935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Citizen-friendly mobile experience and multilingual assistance.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3756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337560"/>
            <a:ext cx="73152" cy="1417320"/>
          </a:xfrm>
          <a:prstGeom prst="rect">
            <a:avLst/>
          </a:prstGeom>
          <a:solidFill>
            <a:srgbClr val="123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50215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069"/>
                </a:solidFill>
              </a:defRPr>
            </a:pPr>
            <a:r>
              <a:t>Smart 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95935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2337"/>
                </a:solidFill>
              </a:defRPr>
            </a:pPr>
            <a:r>
              <a:t>SMS/email alerts for pending actions, approvals, releases and compliance.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982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From Application to Accountability</a:t>
            </a:r>
          </a:p>
          <a:p>
            <a:pPr algn="ctr">
              <a:spcBef>
                <a:spcPts val="1800"/>
              </a:spcBef>
              <a:defRPr sz="1900">
                <a:solidFill>
                  <a:srgbClr val="CDDCFA"/>
                </a:solidFill>
              </a:defRPr>
            </a:pPr>
            <a:r>
              <a:t>A transparent, role-based subsidy lifecycle built for better tracking, verification and governance.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20624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A623"/>
                </a:solidFill>
              </a:defRPr>
            </a:pPr>
            <a:r>
              <a:t>Thank You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